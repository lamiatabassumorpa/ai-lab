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amiatabassumorpa/AI-lab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FOEmS8lGpaNwGcenjKQb-6Rj9itKgFVy/view?usp=sharing" TargetMode="External"/><Relationship Id="rId2" Type="http://schemas.openxmlformats.org/officeDocument/2006/relationships/hyperlink" Target="https://docs.google.com/document/d/1oxk7hY2zl-T206oxTrWrCSX9BWnLz_YEdOrH2ELYiUA/edit?usp=sharing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lamiatabassumorpa/AI-la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C9A84C"/>
                </a:solidFill>
                <a:latin typeface="Georgia"/>
              </a:rPr>
              <a:t>UMRAH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Calibri Light"/>
              </a:rPr>
              <a:t>Knowledge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7A78"/>
                </a:solidFill>
                <a:latin typeface="Calibri"/>
              </a:rPr>
              <a:t>Artificial Intelligence &amp; Expert Systems Lab  |  CSE404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7A78"/>
                </a:solidFill>
                <a:latin typeface="Calibri"/>
              </a:rPr>
              <a:t>University of Asia Pacific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206240"/>
            <a:ext cx="5788152" cy="82296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4251960"/>
            <a:ext cx="5788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Lamia Tabassum Orpa  |  Student ID: 22101184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" y="459486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Submitted to: Nahida Marzan, Lecturer, Dept.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3A38"/>
                </a:solidFill>
                <a:latin typeface="Calibri"/>
              </a:rPr>
              <a:t>Umrah is one of the most significant acts of worship in Islam. Many pilgrims — especially first-timers — face challenges: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394960" cy="137160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❓ Ritual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Difficult to remember all 8 steps in correct 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394960" cy="137160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📋 Ihram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14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Unclear what is allowed or forbidden during Ihram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394960" cy="137160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🤲 Duas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Hard to recall the correct dua for each occasion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394960" cy="137160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7490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👤 Personal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605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Lack of tailored advice for elderly, pregnant, or disabled pilgrims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03520"/>
            <a:ext cx="11430000" cy="77724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  <a:latin typeface="Calibri"/>
              </a:rPr>
              <a:t>✅  Solution: A Prolog-based Knowledge Base that stores and reasons over structured Islamic knowledge — interactive and queryable.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Tools &amp;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9144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34F"/>
                </a:solidFill>
                <a:latin typeface="Calibri"/>
              </a:rPr>
              <a:t>🔷 SWI-Prolog v10.0.2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38"/>
                </a:solidFill>
                <a:latin typeface="Calibri"/>
              </a:rPr>
              <a:t>Primary language for knowledge representation, fact storage, rule definition and interactive querying.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9144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34F"/>
                </a:solidFill>
                <a:latin typeface="Calibri"/>
              </a:rPr>
              <a:t>💻 SWI-Prolog 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38"/>
                </a:solidFill>
                <a:latin typeface="Calibri"/>
              </a:rPr>
              <a:t>Development environment — interactive console for loading, testing, and debugging the knowledge 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9144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34F"/>
                </a:solidFill>
                <a:latin typeface="Calibri"/>
              </a:rPr>
              <a:t>📝 Notepad (Windows)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57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38"/>
                </a:solidFill>
                <a:latin typeface="Calibri"/>
              </a:rPr>
              <a:t>Text editor used to write and edit the Prolog source code file (.pl).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251960"/>
            <a:ext cx="9144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34F"/>
                </a:solidFill>
                <a:latin typeface="Calibri"/>
              </a:rPr>
              <a:t>🖥️ Windows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63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38"/>
                </a:solidFill>
                <a:latin typeface="Calibri"/>
              </a:rPr>
              <a:t>Operating system used for the entire development process.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257800"/>
            <a:ext cx="9144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34F"/>
                </a:solidFill>
                <a:latin typeface="Calibri"/>
              </a:rPr>
              <a:t>🐙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6007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1E3A38"/>
                </a:solidFill>
                <a:latin typeface="Calibri"/>
              </a:rPr>
              <a:t>Version control — repository available at </a:t>
            </a:r>
            <a:r>
              <a:rPr lang="en-US" sz="1200" dirty="0">
                <a:solidFill>
                  <a:srgbClr val="1E3A38"/>
                </a:solidFill>
                <a:hlinkClick r:id="rId2"/>
              </a:rPr>
              <a:t>https://github.com/lamiatabassumorpa/AI-lab</a:t>
            </a:r>
            <a:r>
              <a:rPr lang="en-US" sz="1200" dirty="0">
                <a:solidFill>
                  <a:srgbClr val="1E3A38"/>
                </a:solidFill>
              </a:rPr>
              <a:t> </a:t>
            </a:r>
            <a:endParaRPr sz="1200" b="0" i="0" dirty="0">
              <a:solidFill>
                <a:srgbClr val="1E3A3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Knowledge Base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4114800" cy="2286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4114800" cy="5029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88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161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37360"/>
            <a:ext cx="3886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8 sacred Umrah locations with descriptions and categories
(Masjid al-Haram, Kaaba, Hateem, Zamzam Well, Safa, Marwa, Meeqat, Masjid Aisha)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143000"/>
            <a:ext cx="4114800" cy="2286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1143000"/>
            <a:ext cx="4114800" cy="5029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188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2161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Rituals in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1737360"/>
            <a:ext cx="3886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8 steps of Umrah stored in order
Query next/previous ritual, first &amp; last ritual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143000"/>
            <a:ext cx="3154680" cy="2286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69680" y="1143000"/>
            <a:ext cx="3154680" cy="5029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79407" y="1188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1216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Ihram Rules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7" y="1737360"/>
            <a:ext cx="2926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8 allowed + 9 forbidden actions
check_action() returns ALLOWED / FORBIDDEN with reason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11880"/>
            <a:ext cx="4114800" cy="2286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4114800" cy="5029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6850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Dua Knowledge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206240"/>
            <a:ext cx="3886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7 duas with Arabic text and English meaning
(Talbiyah, Tawaf, Hateem, Zamzam, Saee, Safa, Marwa)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611880"/>
            <a:ext cx="4114800" cy="2286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3611880"/>
            <a:ext cx="4114800" cy="5029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6850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Pilgrim Advisor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4206240"/>
            <a:ext cx="3886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5 pilgrims with different genders &amp; conditions
Personalized guidance + gender-specific Ihram clothing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1526" y="-41148"/>
            <a:ext cx="12188952" cy="6858000"/>
          </a:xfrm>
          <a:prstGeom prst="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ERD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62456" cy="1069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7093" y="1152143"/>
            <a:ext cx="1362456" cy="45720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234438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11182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38"/>
                </a:solidFill>
                <a:latin typeface="Calibri"/>
              </a:rPr>
              <a:t>Name (PK)
Location
Category
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92154" y="1623731"/>
            <a:ext cx="1426465" cy="1046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1993392" y="1161286"/>
            <a:ext cx="1426464" cy="448057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8011" y="1248156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Ritual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689354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1E3A38"/>
                </a:solidFill>
                <a:latin typeface="Calibri"/>
              </a:rPr>
              <a:t>StepNumber</a:t>
            </a:r>
            <a:r>
              <a:rPr sz="1100" b="0" i="0" dirty="0">
                <a:solidFill>
                  <a:srgbClr val="1E3A38"/>
                </a:solidFill>
                <a:latin typeface="Calibri"/>
              </a:rPr>
              <a:t> (PK)
Name
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2462" y="1582078"/>
            <a:ext cx="1529618" cy="10997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3692940" y="1152143"/>
            <a:ext cx="1515902" cy="466343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286650" y="1220724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Calibri"/>
              </a:rPr>
              <a:t>IhramRule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79139" y="1716786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3A38"/>
                </a:solidFill>
                <a:latin typeface="Calibri"/>
              </a:rPr>
              <a:t>Action (PK)
Status
Reason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82462" y="3282696"/>
            <a:ext cx="1529618" cy="9584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82462" y="2843949"/>
            <a:ext cx="1549337" cy="45720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27832" y="2900127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Dua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4275" y="3290123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3A38"/>
                </a:solidFill>
                <a:latin typeface="Calibri"/>
              </a:rPr>
              <a:t>Occasion (PK)
Arabic
Meaning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00312"/>
            <a:ext cx="1362456" cy="934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7093" y="2839212"/>
            <a:ext cx="1362456" cy="45720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2935555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Pilgrim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106" y="3314699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3A38"/>
                </a:solidFill>
                <a:latin typeface="Calibri"/>
              </a:rPr>
              <a:t>Name (PK)
Gender
Condition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3282695"/>
            <a:ext cx="1472184" cy="951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1941195" y="2843949"/>
            <a:ext cx="1478661" cy="45720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44100" y="2909741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Calibri"/>
              </a:rPr>
              <a:t>IhramClothing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41195" y="3307339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3A38"/>
                </a:solidFill>
                <a:latin typeface="Calibri"/>
              </a:rPr>
              <a:t>Gender (PK)
Rule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8559" y="4745738"/>
            <a:ext cx="3364992" cy="1901951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39178" y="4350086"/>
            <a:ext cx="336499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45883" y="4417437"/>
            <a:ext cx="2971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2B"/>
                </a:solidFill>
                <a:latin typeface="Calibri"/>
              </a:rPr>
              <a:t>Relationships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371" y="486460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Pilgrim  performs  Ritual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371" y="5134294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→  Pilgrim  follows 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IhramRule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8559" y="546026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→  Pilgrim  wears 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IhramClothing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46988" y="580768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→  Ritual  takes place at  Place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225" y="612772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→  Ritual  has dua for  Dua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2FD391B-DCD4-4BCC-A573-E3301965E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603" y="1380632"/>
            <a:ext cx="6358318" cy="4919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Key Prolog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94960" cy="530352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029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📌 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7F6"/>
                </a:solidFill>
                <a:latin typeface="Calibri"/>
              </a:rPr>
              <a:t>Unconditionally true statements stored directly in the KB.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  <a:latin typeface="Calibri"/>
              </a:rPr>
              <a:t>Example: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5120640" cy="1280160"/>
          </a:xfrm>
          <a:prstGeom prst="rect">
            <a:avLst/>
          </a:prstGeom>
          <a:solidFill>
            <a:srgbClr val="06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D3A8"/>
                </a:solidFill>
                <a:latin typeface="Consolas"/>
              </a:rPr>
              <a:t>place(kaaba,
  inside_masjid_al_haram,
  structure,
  'Qibla of all Muslims').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  <a:latin typeface="Calibri"/>
              </a:rPr>
              <a:t>More examples: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07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onsolas"/>
              </a:rPr>
              <a:t>•  ritual(1, enter_ihram, '...')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onsolas"/>
              </a:rPr>
              <a:t>•  forbidden_in_ihram(use_perfume, '...')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02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onsolas"/>
              </a:rPr>
              <a:t>•  pilgrim(maryam, female, pregnant)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143000"/>
            <a:ext cx="5943600" cy="530352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1143000"/>
            <a:ext cx="5943600" cy="5029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⚙️ 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737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7F6"/>
                </a:solidFill>
                <a:latin typeface="Calibri"/>
              </a:rPr>
              <a:t>Logical conditions that derive new facts from existing 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31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  <a:latin typeface="Calibri"/>
              </a:rPr>
              <a:t>Example: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651760"/>
            <a:ext cx="5669280" cy="1280160"/>
          </a:xfrm>
          <a:prstGeom prst="rect">
            <a:avLst/>
          </a:prstGeom>
          <a:solidFill>
            <a:srgbClr val="06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26974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D3A8"/>
                </a:solidFill>
                <a:latin typeface="Consolas"/>
              </a:rPr>
              <a:t>inside_haram(X) :-
  place(X,
    inside_masjid_al_haram,
    _, _).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69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  <a:latin typeface="Calibri"/>
              </a:rPr>
              <a:t>More examples: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4074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onsolas"/>
              </a:rPr>
              <a:t>next_ritual(X,Y) :- ritual(N,X,_),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7548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onsolas"/>
              </a:rPr>
              <a:t>  N1 is N+1, ritual(N1,Y,_).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1023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onsolas"/>
              </a:rPr>
              <a:t>is_forbidden(X) :- forbidden_in_ihram(X,_).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4498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onsolas"/>
              </a:rPr>
              <a:t>holy_place(X) :- place(X,_,_,_).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Sample Queries &amp;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2651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438912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795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Q1 — List all holy places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474720" cy="502920"/>
          </a:xfrm>
          <a:prstGeom prst="rect">
            <a:avLst/>
          </a:prstGeom>
          <a:solidFill>
            <a:srgbClr val="06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F7D0"/>
                </a:solidFill>
                <a:latin typeface="Consolas"/>
              </a:rPr>
              <a:t>?- holy_place(X).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X = masjid_al_haram ; X = kaaba ; ... X = masjid_aisha.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657600" cy="2651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657600" cy="438912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1795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Q2 — Next ritual after Tawaf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3474720" cy="502920"/>
          </a:xfrm>
          <a:prstGeom prst="rect">
            <a:avLst/>
          </a:prstGeom>
          <a:solidFill>
            <a:srgbClr val="06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F7D0"/>
                </a:solidFill>
                <a:latin typeface="Consolas"/>
              </a:rPr>
              <a:t>?- next_ritual(tawaf, X).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1343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X = two_rakah_prayer.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3657600" cy="2651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657600" cy="438912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1795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Q3 — Check action (forbidden)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691640"/>
            <a:ext cx="3474720" cy="502920"/>
          </a:xfrm>
          <a:prstGeom prst="rect">
            <a:avLst/>
          </a:prstGeom>
          <a:solidFill>
            <a:srgbClr val="06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F7D0"/>
                </a:solidFill>
                <a:latin typeface="Consolas"/>
              </a:rPr>
              <a:t>?- check_action(cut_nails).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1343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FORBIDDEN: Trimming nails is forbidden in state of Ihram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94760"/>
            <a:ext cx="3657600" cy="2651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3657600" cy="438912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8313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Q4 — Check action (allowed)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3474720" cy="502920"/>
          </a:xfrm>
          <a:prstGeom prst="rect">
            <a:avLst/>
          </a:prstGeom>
          <a:solidFill>
            <a:srgbClr val="06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3708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F7D0"/>
                </a:solidFill>
                <a:latin typeface="Consolas"/>
              </a:rPr>
              <a:t>?- check_action(recite_quran).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6519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ALLOWED: Recitation of Quran is encouraged in Ihram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794760"/>
            <a:ext cx="3657600" cy="2651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51960" y="3794760"/>
            <a:ext cx="3657600" cy="438912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43400" y="38313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Q5 — Show dua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343400"/>
            <a:ext cx="3474720" cy="502920"/>
          </a:xfrm>
          <a:prstGeom prst="rect">
            <a:avLst/>
          </a:prstGeom>
          <a:solidFill>
            <a:srgbClr val="06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6552" y="43708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F7D0"/>
                </a:solidFill>
                <a:latin typeface="Consolas"/>
              </a:rPr>
              <a:t>?- show_dua(drinking_zamzam).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96519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Arabic: Allahumma inni asaluka ilman nafia
Meaning: O Allah I ask You for beneficial knowledge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794760"/>
            <a:ext cx="3657600" cy="2651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8160" y="3794760"/>
            <a:ext cx="3657600" cy="438912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38313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Q6 — Guidance for pregnant pilgrim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343400"/>
            <a:ext cx="3474720" cy="502920"/>
          </a:xfrm>
          <a:prstGeom prst="rect">
            <a:avLst/>
          </a:prstGeom>
          <a:solidFill>
            <a:srgbClr val="06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02752" y="43708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F7D0"/>
                </a:solidFill>
                <a:latin typeface="Consolas"/>
              </a:rPr>
              <a:t>?- show_guidance(maryam).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96519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7F6"/>
                </a:solidFill>
                <a:latin typeface="Calibri"/>
              </a:rPr>
              <a:t>Condition: pregnant
Guidance: Consult a doctor. Tawaf at outer areas.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Challenges Faced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22960" cy="150876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8016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4F"/>
                </a:solidFill>
                <a:latin typeface="Calibri"/>
              </a:rPr>
              <a:t>Learning Prolog from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37360"/>
            <a:ext cx="44805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38"/>
                </a:solidFill>
                <a:latin typeface="Calibri"/>
              </a:rPr>
              <a:t>First exposure to logic programming — a completely different paradigm from Python or Java.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822960" cy="150876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28016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4F"/>
                </a:solidFill>
                <a:latin typeface="Calibri"/>
              </a:rPr>
              <a:t>Understanding Backtracking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737360"/>
            <a:ext cx="44805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38"/>
                </a:solidFill>
                <a:latin typeface="Calibri"/>
              </a:rPr>
              <a:t>Learning that pressing ; triggers backtracking to find the next solution was essential.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822960" cy="150876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383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1752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4F"/>
                </a:solidFill>
                <a:latin typeface="Calibri"/>
              </a:rPr>
              <a:t>Writing Rules with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74720"/>
            <a:ext cx="44805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38"/>
                </a:solidFill>
                <a:latin typeface="Calibri"/>
              </a:rPr>
              <a:t>Using X, D, N, N1 as variables and _ as a wildcard required careful understanding.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92608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926080"/>
            <a:ext cx="822960" cy="150876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383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01752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4F"/>
                </a:solidFill>
                <a:latin typeface="Calibri"/>
              </a:rPr>
              <a:t>Handling Unknown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474720"/>
            <a:ext cx="44805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38"/>
                </a:solidFill>
                <a:latin typeface="Calibri"/>
              </a:rPr>
              <a:t>Using the \+ negation operator in check_action for unrecognized actions was tricky.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63440"/>
            <a:ext cx="114300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663440"/>
            <a:ext cx="822960" cy="150876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5120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75487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4F"/>
                </a:solidFill>
                <a:latin typeface="Calibri"/>
              </a:rPr>
              <a:t>Structuring the Knowledge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21207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38"/>
                </a:solidFill>
                <a:latin typeface="Calibri"/>
              </a:rPr>
              <a:t>Organizing 5 sections cleanly in one .pl file required multiple planning revisions.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4C"/>
                </a:solidFill>
                <a:latin typeface="Georgia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430000" cy="7315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Successfully built a Prolog-based Umrah Guide Knowledge Base covering 5 key areas.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430000" cy="7315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The system reasons over Islamic knowledge — not just stores it — using logical inference.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11430000" cy="7315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Users can query rituals in order, check Ihram rules, retrieve duas, and get personalized guidance.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59"/>
            <a:ext cx="11430000" cy="7315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069079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Unlike traditional databases, Prolog's backtracking delivers intelligent, rule-based responses.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92040"/>
            <a:ext cx="11430000" cy="7315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The project holds personal significance — inspired by a real Umrah visit, ensuring authenticity.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A7A78"/>
                </a:solidFill>
                <a:latin typeface="Calibri"/>
              </a:rPr>
              <a:t>Course: CSE404 — AI &amp; Expert Systems Lab  |  University of Asia Pacific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Resources &amp;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88720" cy="14173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5727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34F"/>
                </a:solidFill>
                <a:latin typeface="Calibri"/>
              </a:rPr>
              <a:t>Lab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93392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5A7A78"/>
                </a:solidFill>
                <a:hlinkClick r:id="rId2"/>
              </a:rPr>
              <a:t>https://docs.google.com/document/d/1oxk7hY2zl-T206oxTrWrCSX9BWnLz_YEdOrH2ELYiUA/edit?usp=sharing</a:t>
            </a:r>
            <a:r>
              <a:rPr lang="en-US" sz="1200" dirty="0">
                <a:solidFill>
                  <a:srgbClr val="5A7A78"/>
                </a:solidFill>
              </a:rPr>
              <a:t> </a:t>
            </a:r>
          </a:p>
          <a:p>
            <a:endParaRPr sz="1200" b="0" i="0" dirty="0">
              <a:solidFill>
                <a:srgbClr val="5A7A78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4300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188720" cy="14173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49300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2186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34F"/>
                </a:solidFill>
                <a:latin typeface="Calibri"/>
              </a:rPr>
              <a:t>Source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579876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5A7A78"/>
                </a:solidFill>
                <a:hlinkClick r:id="rId3"/>
              </a:rPr>
              <a:t>https://drive.google.com/file/d/1FOEmS8lGpaNwGcenjKQb-6Rj9itKgFVy/view?usp=sharing</a:t>
            </a:r>
            <a:r>
              <a:rPr lang="en-US" sz="1200">
                <a:solidFill>
                  <a:srgbClr val="5A7A78"/>
                </a:solidFill>
              </a:rPr>
              <a:t> </a:t>
            </a:r>
            <a:endParaRPr sz="1200" b="0" i="0" dirty="0">
              <a:solidFill>
                <a:srgbClr val="5A7A78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114300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1188720" cy="1417320"/>
          </a:xfrm>
          <a:prstGeom prst="rect">
            <a:avLst/>
          </a:prstGeom>
          <a:solidFill>
            <a:srgbClr val="1A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13892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8646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34F"/>
                </a:solidFill>
                <a:latin typeface="Calibri"/>
              </a:rPr>
              <a:t>GitHub 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85232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5A7A78"/>
                </a:solidFill>
                <a:hlinkClick r:id="rId4"/>
              </a:rPr>
              <a:t>https://github.com/lamiatabassumorpa/AI-lab</a:t>
            </a:r>
            <a:r>
              <a:rPr lang="en-US" sz="1200" dirty="0">
                <a:solidFill>
                  <a:srgbClr val="5A7A78"/>
                </a:solidFill>
              </a:rPr>
              <a:t> </a:t>
            </a:r>
            <a:endParaRPr sz="1200" b="0" i="0" dirty="0">
              <a:solidFill>
                <a:srgbClr val="5A7A7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1022</Words>
  <Application>Microsoft Office PowerPoint</Application>
  <PresentationFormat>Custom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Lamia Tabassum</dc:creator>
  <cp:keywords/>
  <dc:description>generated using python-pptx</dc:description>
  <cp:lastModifiedBy>Lamia Tabassum</cp:lastModifiedBy>
  <cp:revision>3</cp:revision>
  <dcterms:created xsi:type="dcterms:W3CDTF">2013-01-27T09:14:16Z</dcterms:created>
  <dcterms:modified xsi:type="dcterms:W3CDTF">2026-04-28T23:31:22Z</dcterms:modified>
  <cp:category/>
</cp:coreProperties>
</file>