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8" d="100"/>
          <a:sy n="158" d="100"/>
        </p:scale>
        <p:origin x="264" y="-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004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lamiatabassumorpa/AI-lab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A534F"/>
          </a:solidFill>
          <a:ln w="12700">
            <a:solidFill>
              <a:srgbClr val="1A534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01168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 TAC TOE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17556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Algorithm with Alpha-Beta Pruning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286000" y="2432304"/>
            <a:ext cx="45720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5786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&amp; Expert Systems Lab  |  CSE404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9077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Asia Pacific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377440" y="3364992"/>
            <a:ext cx="4389120" cy="987552"/>
          </a:xfrm>
          <a:prstGeom prst="roundRect">
            <a:avLst>
              <a:gd name="adj" fmla="val 7407"/>
            </a:avLst>
          </a:prstGeom>
          <a:solidFill>
            <a:srgbClr val="1A534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77440" y="340156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Lamia Tabassum Orpa  |  Student ID: 22101184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377440" y="378561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Nahida Marzan, Lecturer, Dept. of CSE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534F"/>
          </a:solidFill>
          <a:ln w="12700">
            <a:solidFill>
              <a:srgbClr val="1A53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84124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D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 Tac Toe is a two-player, zero-sum game where an AI must search a game tree to always make the optimal decision — a classic adversarial search problem.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11480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" y="1517904"/>
            <a:ext cx="329184" cy="329184"/>
          </a:xfrm>
          <a:prstGeom prst="ellipse">
            <a:avLst/>
          </a:prstGeom>
          <a:solidFill>
            <a:srgbClr val="1A534F"/>
          </a:solidFill>
          <a:ln w="12700">
            <a:solidFill>
              <a:srgbClr val="1A53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" y="1508760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Complexity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385876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up to 9! = 362,880 possible game states, naively checking every branch is wasteful and inefficient.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36592" y="1417320"/>
            <a:ext cx="411480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55464" y="1517904"/>
            <a:ext cx="329184" cy="329184"/>
          </a:xfrm>
          <a:prstGeom prst="ellipse">
            <a:avLst/>
          </a:prstGeom>
          <a:solidFill>
            <a:srgbClr val="1A534F"/>
          </a:solidFill>
          <a:ln w="12700">
            <a:solidFill>
              <a:srgbClr val="1A53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5464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48656" y="1508760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Strategy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73752" y="1874520"/>
            <a:ext cx="385876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must always make the best possible move — never lose a game it could have won or drawn, regardless of opponent play.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127248"/>
            <a:ext cx="411480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3192" y="3227832"/>
            <a:ext cx="329184" cy="329184"/>
          </a:xfrm>
          <a:prstGeom prst="ellipse">
            <a:avLst/>
          </a:prstGeom>
          <a:solidFill>
            <a:srgbClr val="1A534F"/>
          </a:solidFill>
          <a:ln w="12700">
            <a:solidFill>
              <a:srgbClr val="1A53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3227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6384" y="3218688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Efficiency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584448"/>
            <a:ext cx="385876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Alpha-Beta Pruning cuts off branches guaranteed not to affect the result, making the search faster without changing the outcome.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36592" y="3127248"/>
            <a:ext cx="411480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55464" y="3227832"/>
            <a:ext cx="329184" cy="329184"/>
          </a:xfrm>
          <a:prstGeom prst="ellipse">
            <a:avLst/>
          </a:prstGeom>
          <a:solidFill>
            <a:srgbClr val="1A534F"/>
          </a:solidFill>
          <a:ln w="12700">
            <a:solidFill>
              <a:srgbClr val="1A53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5464" y="3227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48656" y="3218688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Game Modes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73752" y="3584448"/>
            <a:ext cx="385876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must support both Human vs Computer and Computer vs Computer modes with independently adjustable AI difficulty.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534F"/>
          </a:solidFill>
          <a:ln w="12700">
            <a:solidFill>
              <a:srgbClr val="1A53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923544"/>
            <a:ext cx="384048" cy="384048"/>
          </a:xfrm>
          <a:prstGeom prst="ellipse">
            <a:avLst/>
          </a:prstGeom>
          <a:solidFill>
            <a:srgbClr val="1A534F"/>
          </a:solidFill>
          <a:ln w="12700">
            <a:solidFill>
              <a:srgbClr val="1A53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23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41248" y="886968"/>
            <a:ext cx="7973568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6350">
            <a:solidFill>
              <a:srgbClr val="D8EDE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886968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console-based Tic Tac Toe game on a 3×3 board with two-player logic and clean board display after every move.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72" y="1728216"/>
            <a:ext cx="384048" cy="384048"/>
          </a:xfrm>
          <a:prstGeom prst="ellipse">
            <a:avLst/>
          </a:prstGeom>
          <a:solidFill>
            <a:srgbClr val="1A534F"/>
          </a:solidFill>
          <a:ln w="12700">
            <a:solidFill>
              <a:srgbClr val="1A53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248" y="1691640"/>
            <a:ext cx="7973568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6350">
            <a:solidFill>
              <a:srgbClr val="D8EDE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1691640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 opponent using the Minimax algorithm that always selects the optimal move for any given board state.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7472" y="2532888"/>
            <a:ext cx="384048" cy="384048"/>
          </a:xfrm>
          <a:prstGeom prst="ellipse">
            <a:avLst/>
          </a:prstGeom>
          <a:solidFill>
            <a:srgbClr val="1A534F"/>
          </a:solidFill>
          <a:ln w="12700">
            <a:solidFill>
              <a:srgbClr val="1A53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1248" y="2496312"/>
            <a:ext cx="7973568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6350">
            <a:solidFill>
              <a:srgbClr val="D8EDE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5840" y="2496312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Alpha-Beta Pruning on top of Minimax to reduce nodes evaluated, without changing the final move selected.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47472" y="3337560"/>
            <a:ext cx="384048" cy="384048"/>
          </a:xfrm>
          <a:prstGeom prst="ellipse">
            <a:avLst/>
          </a:prstGeom>
          <a:solidFill>
            <a:srgbClr val="1A534F"/>
          </a:solidFill>
          <a:ln w="12700">
            <a:solidFill>
              <a:srgbClr val="1A53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1248" y="3300984"/>
            <a:ext cx="7973568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6350">
            <a:solidFill>
              <a:srgbClr val="D8EDE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5840" y="3300984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Human vs Computer and Computer vs Computer modes, each with an independently adjustable AI search depth (1–9).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47472" y="4142232"/>
            <a:ext cx="384048" cy="384048"/>
          </a:xfrm>
          <a:prstGeom prst="ellipse">
            <a:avLst/>
          </a:prstGeom>
          <a:solidFill>
            <a:srgbClr val="1A534F"/>
          </a:solidFill>
          <a:ln w="12700">
            <a:solidFill>
              <a:srgbClr val="1A53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41248" y="4105656"/>
            <a:ext cx="7973568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6350">
            <a:solidFill>
              <a:srgbClr val="D8EDE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05840" y="4105656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report the game result — a win for X, a win for O, or a draw — after every game concludes.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534F"/>
          </a:solidFill>
          <a:ln w="12700">
            <a:solidFill>
              <a:srgbClr val="1A53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41832"/>
            <a:ext cx="512064" cy="512064"/>
          </a:xfrm>
          <a:prstGeom prst="ellipse">
            <a:avLst/>
          </a:prstGeom>
          <a:solidFill>
            <a:srgbClr val="1A534F"/>
          </a:solidFill>
          <a:ln w="12700">
            <a:solidFill>
              <a:srgbClr val="0D2B2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8755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9235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119786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D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programming language. No third-party packages required — only Python's built-in math module for ±infinity bounds in alpha-beta.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74320" y="1673352"/>
            <a:ext cx="8595360" cy="0"/>
          </a:xfrm>
          <a:prstGeom prst="line">
            <a:avLst/>
          </a:prstGeom>
          <a:noFill/>
          <a:ln w="6350">
            <a:solidFill>
              <a:srgbClr val="D8ED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1746504"/>
            <a:ext cx="512064" cy="512064"/>
          </a:xfrm>
          <a:prstGeom prst="ellipse">
            <a:avLst/>
          </a:prstGeom>
          <a:solidFill>
            <a:srgbClr val="1A534F"/>
          </a:solidFill>
          <a:ln w="12700">
            <a:solidFill>
              <a:srgbClr val="0D2B2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1792224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17282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14400" y="20025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D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 with integrated terminal for running and testing the program interactively on Windows 11.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274320" y="2478024"/>
            <a:ext cx="8595360" cy="0"/>
          </a:xfrm>
          <a:prstGeom prst="line">
            <a:avLst/>
          </a:prstGeom>
          <a:noFill/>
          <a:ln w="6350">
            <a:solidFill>
              <a:srgbClr val="D8EDE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74320" y="2551176"/>
            <a:ext cx="512064" cy="512064"/>
          </a:xfrm>
          <a:prstGeom prst="ellipse">
            <a:avLst/>
          </a:prstGeom>
          <a:solidFill>
            <a:srgbClr val="1A6B56"/>
          </a:solidFill>
          <a:ln w="12700">
            <a:solidFill>
              <a:srgbClr val="0D2B2B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2596896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" y="2532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914400" y="280720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D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— source code and report available at </a:t>
            </a:r>
            <a:r>
              <a:rPr lang="en-US" sz="1150" dirty="0">
                <a:solidFill>
                  <a:srgbClr val="4D6B6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https://github.com/lamiatabassumorpa/AI-lab</a:t>
            </a:r>
            <a:r>
              <a:rPr lang="en-US" sz="1150" dirty="0">
                <a:solidFill>
                  <a:srgbClr val="4D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274320" y="3282696"/>
            <a:ext cx="8595360" cy="0"/>
          </a:xfrm>
          <a:prstGeom prst="line">
            <a:avLst/>
          </a:prstGeom>
          <a:noFill/>
          <a:ln w="6350">
            <a:solidFill>
              <a:srgbClr val="D8EDE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274320" y="3355848"/>
            <a:ext cx="512064" cy="512064"/>
          </a:xfrm>
          <a:prstGeom prst="ellipse">
            <a:avLst/>
          </a:prstGeom>
          <a:solidFill>
            <a:srgbClr val="0D2B2B"/>
          </a:solidFill>
          <a:ln w="12700">
            <a:solidFill>
              <a:srgbClr val="0D2B2B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" y="3401568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400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Algorithm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914400" y="3611880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D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adversarial search that guarantees optimal play by exploring the full game tree from any board position.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274320" y="4087368"/>
            <a:ext cx="8595360" cy="0"/>
          </a:xfrm>
          <a:prstGeom prst="line">
            <a:avLst/>
          </a:prstGeom>
          <a:noFill/>
          <a:ln w="6350">
            <a:solidFill>
              <a:srgbClr val="D8EDE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274320" y="4160520"/>
            <a:ext cx="512064" cy="512064"/>
          </a:xfrm>
          <a:prstGeom prst="ellipse">
            <a:avLst/>
          </a:prstGeom>
          <a:solidFill>
            <a:srgbClr val="0D2B2B"/>
          </a:solidFill>
          <a:ln w="12700">
            <a:solidFill>
              <a:srgbClr val="0D2B2B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" y="420624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14400" y="4142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Alpha-Beta Pruning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914400" y="441655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D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applied on top of Minimax — cuts branches that cannot affect the result, reducing nodes evaluated significantly.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534F"/>
          </a:solidFill>
          <a:ln w="12700">
            <a:solidFill>
              <a:srgbClr val="1A53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— Minimax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868680"/>
            <a:ext cx="411480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6350">
            <a:solidFill>
              <a:srgbClr val="D8EDE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960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Minimax Works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1389888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37160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the game as alternating MAX (AI) and MIN (opponent) turns.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874520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85623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MAX turns — the AI picks the move with the highest score.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2359152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34086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MIN turns — the opponent picks the move with the lowest score.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843784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282549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Recurses until the game ends (win/draw) or the depth limit is hit.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3328416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331012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Scores: +10 = AI wins, -10 = opponent wins, 0 = draw.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3813048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379476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depth 9, it explores the entire remaining game — guaranteed optimal play.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53712" y="868680"/>
            <a:ext cx="4334256" cy="4114800"/>
          </a:xfrm>
          <a:prstGeom prst="roundRect">
            <a:avLst>
              <a:gd name="adj" fmla="val 1556"/>
            </a:avLst>
          </a:prstGeom>
          <a:solidFill>
            <a:srgbClr val="0D2B2B"/>
          </a:solidFill>
          <a:ln w="12700">
            <a:solidFill>
              <a:srgbClr val="1A53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9601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81728" y="1335024"/>
            <a:ext cx="407822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A8E6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MINIMAX(board, depth,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8E6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alpha, beta, maximizing, player):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8E6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score = EVALUATE(board, player)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8E6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score ≠ 0 or board full: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8E6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score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8E6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maximizing: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8E6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best = -∞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8E6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each empty cell c: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8E6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place mark at c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8E6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 = MINIMAX(…, False, player)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8E6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undo move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8E6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best = max(best, val)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8E6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alpha = max(alpha, best)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8E6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beta ≤ alpha: break  ← β cut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8E6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best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A8E6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else:  [mirror for minimizing]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534F"/>
          </a:solidFill>
          <a:ln w="12700">
            <a:solidFill>
              <a:srgbClr val="1A53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Alpha-Beta Pruning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D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Alpha-beta pruning adds two running bounds — α (best MAX can guarantee) and β (best MIN can guarantee) — and skips branches that cannot change the final result.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0" y="1353312"/>
            <a:ext cx="822960" cy="65836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0" y="1353312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
</a:t>
            </a:r>
            <a:endParaRPr lang="en-US" sz="9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97280" y="2542032"/>
            <a:ext cx="749808" cy="603504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542032"/>
            <a:ext cx="7498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
</a:t>
            </a:r>
            <a:endParaRPr lang="en-US" sz="9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60520" y="2542032"/>
            <a:ext cx="749808" cy="603504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2542032"/>
            <a:ext cx="7498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
</a:t>
            </a:r>
            <a:endParaRPr lang="en-US" sz="9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223760" y="2542032"/>
            <a:ext cx="749808" cy="603504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2542032"/>
            <a:ext cx="7498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
</a:t>
            </a:r>
            <a:endParaRPr lang="en-US" sz="9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15968" y="2011680"/>
            <a:ext cx="0" cy="530352"/>
          </a:xfrm>
          <a:prstGeom prst="line">
            <a:avLst/>
          </a:prstGeom>
          <a:noFill/>
          <a:ln w="15240">
            <a:solidFill>
              <a:srgbClr val="778E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2011680"/>
            <a:ext cx="9144" cy="530352"/>
          </a:xfrm>
          <a:prstGeom prst="line">
            <a:avLst/>
          </a:prstGeom>
          <a:noFill/>
          <a:ln w="15240">
            <a:solidFill>
              <a:srgbClr val="778E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6592" y="2011680"/>
            <a:ext cx="2862072" cy="530352"/>
          </a:xfrm>
          <a:prstGeom prst="line">
            <a:avLst/>
          </a:prstGeom>
          <a:noFill/>
          <a:ln w="15240">
            <a:solidFill>
              <a:srgbClr val="778E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3703320"/>
            <a:ext cx="512064" cy="402336"/>
          </a:xfrm>
          <a:prstGeom prst="roundRect">
            <a:avLst>
              <a:gd name="adj" fmla="val 9091"/>
            </a:avLst>
          </a:prstGeom>
          <a:solidFill>
            <a:srgbClr val="E8F5F2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703320"/>
            <a:ext cx="512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316736" y="3703320"/>
            <a:ext cx="512064" cy="402336"/>
          </a:xfrm>
          <a:prstGeom prst="roundRect">
            <a:avLst>
              <a:gd name="adj" fmla="val 9091"/>
            </a:avLst>
          </a:prstGeom>
          <a:solidFill>
            <a:srgbClr val="E8F5F2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16736" y="3703320"/>
            <a:ext cx="512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16152" y="3145536"/>
            <a:ext cx="0" cy="557784"/>
          </a:xfrm>
          <a:prstGeom prst="line">
            <a:avLst/>
          </a:prstGeom>
          <a:noFill/>
          <a:ln w="15240">
            <a:solidFill>
              <a:srgbClr val="778E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72184" y="3145536"/>
            <a:ext cx="100584" cy="557784"/>
          </a:xfrm>
          <a:prstGeom prst="line">
            <a:avLst/>
          </a:prstGeom>
          <a:noFill/>
          <a:ln w="15240">
            <a:solidFill>
              <a:srgbClr val="778E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02736" y="3703320"/>
            <a:ext cx="512064" cy="402336"/>
          </a:xfrm>
          <a:prstGeom prst="roundRect">
            <a:avLst>
              <a:gd name="adj" fmla="val 9091"/>
            </a:avLst>
          </a:prstGeom>
          <a:solidFill>
            <a:srgbClr val="E8F5F2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02736" y="3703320"/>
            <a:ext cx="512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70832" y="3703320"/>
            <a:ext cx="512064" cy="402336"/>
          </a:xfrm>
          <a:prstGeom prst="roundRect">
            <a:avLst>
              <a:gd name="adj" fmla="val 9091"/>
            </a:avLst>
          </a:prstGeom>
          <a:solidFill>
            <a:srgbClr val="F2F2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70832" y="3703320"/>
            <a:ext cx="512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06824" y="3145536"/>
            <a:ext cx="0" cy="557784"/>
          </a:xfrm>
          <a:prstGeom prst="line">
            <a:avLst/>
          </a:prstGeom>
          <a:noFill/>
          <a:ln w="15240">
            <a:solidFill>
              <a:srgbClr val="778E8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53712" y="3145536"/>
            <a:ext cx="73152" cy="557784"/>
          </a:xfrm>
          <a:prstGeom prst="line">
            <a:avLst/>
          </a:prstGeom>
          <a:noFill/>
          <a:ln w="15240">
            <a:solidFill>
              <a:srgbClr val="BBBBBB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656832" y="3703320"/>
            <a:ext cx="512064" cy="402336"/>
          </a:xfrm>
          <a:prstGeom prst="roundRect">
            <a:avLst>
              <a:gd name="adj" fmla="val 9091"/>
            </a:avLst>
          </a:prstGeom>
          <a:solidFill>
            <a:srgbClr val="E8F5F2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56832" y="3703320"/>
            <a:ext cx="512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424928" y="3703320"/>
            <a:ext cx="512064" cy="402336"/>
          </a:xfrm>
          <a:prstGeom prst="roundRect">
            <a:avLst>
              <a:gd name="adj" fmla="val 9091"/>
            </a:avLst>
          </a:prstGeom>
          <a:solidFill>
            <a:srgbClr val="E8F5F2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24928" y="3703320"/>
            <a:ext cx="512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88352" y="3145536"/>
            <a:ext cx="0" cy="557784"/>
          </a:xfrm>
          <a:prstGeom prst="line">
            <a:avLst/>
          </a:prstGeom>
          <a:noFill/>
          <a:ln w="15240">
            <a:solidFill>
              <a:srgbClr val="778E8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35240" y="3145536"/>
            <a:ext cx="45720" cy="557784"/>
          </a:xfrm>
          <a:prstGeom prst="line">
            <a:avLst/>
          </a:prstGeom>
          <a:noFill/>
          <a:ln w="15240">
            <a:solidFill>
              <a:srgbClr val="778E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2286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D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min(3,5)=3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00400" y="33375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≤ α(=3) → cut!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0" y="2286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D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min(4,8)=4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286000" y="13898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max(3,2,4) = 4  →  AI picks branch B3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4645152"/>
            <a:ext cx="274320" cy="23774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" y="46451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node (AI)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60320" y="4645152"/>
            <a:ext cx="274320" cy="237744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07792" y="464515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node (opponent)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303520" y="4663440"/>
            <a:ext cx="438912" cy="219456"/>
          </a:xfrm>
          <a:prstGeom prst="roundRect">
            <a:avLst>
              <a:gd name="adj" fmla="val 12500"/>
            </a:avLst>
          </a:prstGeom>
          <a:solidFill>
            <a:srgbClr val="F2F2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06440" y="464515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Pruned – not evaluated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534F"/>
          </a:solidFill>
          <a:ln w="12700">
            <a:solidFill>
              <a:srgbClr val="1A53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82296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D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uses a 9-cell flat list for the board. Both game modes share one main loop — print → check game over → get move (human input or minimax) → apply → repeat.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325880"/>
            <a:ext cx="3291840" cy="36210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56048" y="1353312"/>
            <a:ext cx="391363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6350">
            <a:solidFill>
              <a:srgbClr val="D8EDE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120640" y="13898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Repr.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120640" y="16459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list of 9 cells (indices 0–8). No 2D array needed.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956048" y="2112264"/>
            <a:ext cx="391363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6350">
            <a:solidFill>
              <a:srgbClr val="D8EDE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120640" y="21488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Detection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120640" y="24048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fixed index combinations checked after every move.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956048" y="2871216"/>
            <a:ext cx="391363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6350">
            <a:solidFill>
              <a:srgbClr val="D8EDE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120640" y="29077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Logic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120640" y="316382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modes reuse the same minimax() and make_ai_move() functions.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956048" y="3630168"/>
            <a:ext cx="391363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6350">
            <a:solidFill>
              <a:srgbClr val="D8EDE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120640" y="36667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120640" y="392277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get_human_move() loops until a valid, unoccupied cell is entered.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956048" y="4389120"/>
            <a:ext cx="391363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6350">
            <a:solidFill>
              <a:srgbClr val="D8EDE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120640" y="44256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Control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120640" y="468172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ask_depth() lets each player independently set difficulty 1–9.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534F"/>
          </a:solidFill>
          <a:ln w="12700">
            <a:solidFill>
              <a:srgbClr val="1A53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82296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D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is built from 15 small, single-purpose functions — making the recursive minimax logic easy to test in isolation.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316736"/>
            <a:ext cx="42062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6350">
            <a:solidFill>
              <a:srgbClr val="D8EDE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93192" y="13441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print_board(board)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93192" y="160934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D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3×3 grid after every move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2020824"/>
            <a:ext cx="42062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6350">
            <a:solidFill>
              <a:srgbClr val="D8EDE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3192" y="20482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get_winner(board)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3192" y="23134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D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all 8 win combos; returns 'X', 'O', or None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" y="2724912"/>
            <a:ext cx="42062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6350">
            <a:solidFill>
              <a:srgbClr val="D8EDE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3192" y="27523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is_full(board)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93192" y="30175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D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no empty cells remain (draw condition)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" y="3429000"/>
            <a:ext cx="42062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6350">
            <a:solidFill>
              <a:srgbClr val="D8EDE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3192" y="34564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evaluate_board(…)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3192" y="37216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D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+10 / -10 / 0 from the AI's perspective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4133088"/>
            <a:ext cx="42062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6350">
            <a:solidFill>
              <a:srgbClr val="D8EDE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3192" y="41605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minimax(…)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93192" y="442569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D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recursive search with alpha-beta pruning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81728" y="1316736"/>
            <a:ext cx="42062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6350">
            <a:solidFill>
              <a:srgbClr val="D8EDE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18888" y="13441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make_ai_move(…)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18888" y="160934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D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minimax for each empty cell, plays the best one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81728" y="2020824"/>
            <a:ext cx="42062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6350">
            <a:solidFill>
              <a:srgbClr val="D8EDE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18888" y="20482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get_human_move(board)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18888" y="23134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D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+ validates console input until a legal move is given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81728" y="2724912"/>
            <a:ext cx="42062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6350">
            <a:solidFill>
              <a:srgbClr val="D8EDE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18888" y="27523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play_human_vs_computer()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18888" y="30175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D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full HvC game: symbol choice, depth, main loop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81728" y="3429000"/>
            <a:ext cx="42062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6350">
            <a:solidFill>
              <a:srgbClr val="D8EDE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18888" y="34564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play_computer_vs_computer()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18888" y="37216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D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full CvC game with independent depths for X and 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81728" y="4133088"/>
            <a:ext cx="42062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6350">
            <a:solidFill>
              <a:srgbClr val="D8EDE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18888" y="41605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play_game()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18888" y="442569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D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menu and dispatches to the chosen mode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534F"/>
          </a:solidFill>
          <a:ln w="12700">
            <a:solidFill>
              <a:srgbClr val="1A53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987552"/>
            <a:ext cx="4169664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74904" y="1088136"/>
            <a:ext cx="329184" cy="329184"/>
          </a:xfrm>
          <a:prstGeom prst="ellipse">
            <a:avLst/>
          </a:prstGeom>
          <a:solidFill>
            <a:srgbClr val="1A534F"/>
          </a:solidFill>
          <a:ln w="12700">
            <a:solidFill>
              <a:srgbClr val="1A53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" y="1088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096" y="10789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Maximizing vs Minimizing Recursion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1444752"/>
            <a:ext cx="3913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track of which side was scoring at each recursive level — the function alternates roles and it was easy to lose perspective several levels deep.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18304" y="987552"/>
            <a:ext cx="4169664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37176" y="1088136"/>
            <a:ext cx="329184" cy="329184"/>
          </a:xfrm>
          <a:prstGeom prst="ellipse">
            <a:avLst/>
          </a:prstGeom>
          <a:solidFill>
            <a:srgbClr val="1A534F"/>
          </a:solidFill>
          <a:ln w="12700">
            <a:solidFill>
              <a:srgbClr val="1A53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37176" y="1088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30368" y="10789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Function Perspective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55464" y="1444752"/>
            <a:ext cx="3913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evaluate_board must always score from the original AI's perspective, not from the side currently moving. Mixing this up caused the AI to play self-defeating moves.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" y="2779776"/>
            <a:ext cx="2670048" cy="1609344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4904" y="2880360"/>
            <a:ext cx="329184" cy="329184"/>
          </a:xfrm>
          <a:prstGeom prst="ellipse">
            <a:avLst/>
          </a:prstGeom>
          <a:solidFill>
            <a:srgbClr val="1A534F"/>
          </a:solidFill>
          <a:ln w="12700">
            <a:solidFill>
              <a:srgbClr val="1A53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8096" y="2871216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Alpha-Beta Cut-off Condition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" y="3236976"/>
            <a:ext cx="24140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pruning condition (β ≤ α) had to be exactly right — a wrong comparison didn't break the game visibly but either failed to prune or pruned incorrectly.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36976" y="2779776"/>
            <a:ext cx="2670048" cy="1609344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55848" y="2880360"/>
            <a:ext cx="329184" cy="329184"/>
          </a:xfrm>
          <a:prstGeom prst="ellipse">
            <a:avLst/>
          </a:prstGeom>
          <a:solidFill>
            <a:srgbClr val="1A534F"/>
          </a:solidFill>
          <a:ln w="12700">
            <a:solidFill>
              <a:srgbClr val="1A53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49040" y="2871216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Console Input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74136" y="3236976"/>
            <a:ext cx="24140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input needed to reject non-numeric text, out-of-range numbers, and already-occupied cells without crashing.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779776"/>
            <a:ext cx="2670048" cy="1609344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36792" y="2880360"/>
            <a:ext cx="329184" cy="329184"/>
          </a:xfrm>
          <a:prstGeom prst="ellipse">
            <a:avLst/>
          </a:prstGeom>
          <a:solidFill>
            <a:srgbClr val="1A534F"/>
          </a:solidFill>
          <a:ln w="12700">
            <a:solidFill>
              <a:srgbClr val="1A53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29984" y="2871216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Correctness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3236976"/>
            <a:ext cx="24140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doesn't look obviously wrong even when subtly buggy. The most convincing test: Computer vs Computer at depth 9 must always draw.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2700">
            <a:solidFill>
              <a:srgbClr val="1A534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7899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0424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implemented a console-based Tic Tac Toe game with an optimal AI using Minimax and Alpha-Beta Pruning in Python 3.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83080"/>
            <a:ext cx="329184" cy="329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74650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search depth 9, the AI achieves perfect play — it never loses, and Computer vs Computer always ends in a draw, confirming correctness.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87168"/>
            <a:ext cx="329184" cy="3291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245059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Alpha-Beta Pruning demonstrated meaningful efficiency gains: branches provably unable to change the outcome are skipped without affecting the move selected.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91256"/>
            <a:ext cx="329184" cy="3291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315468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search depth (1–9) makes the AI a configurable opponent — unbeatable at depth 9, beatable at lower depths for accessible difficulty.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95344"/>
            <a:ext cx="329184" cy="32918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400" y="38587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the program into 15 small, single-purpose functions made the recursive minimax logic independently testable and easy to verify.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457200" y="48097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CSE404 — AI &amp; Expert Systems Lab  |  University of Asia Pacific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534F"/>
          </a:solidFill>
          <a:ln w="12700">
            <a:solidFill>
              <a:srgbClr val="1A53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Links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43000"/>
            <a:ext cx="69494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6350">
            <a:solidFill>
              <a:srgbClr val="D8EDE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61872" y="1344168"/>
            <a:ext cx="548640" cy="548640"/>
          </a:xfrm>
          <a:prstGeom prst="ellipse">
            <a:avLst/>
          </a:prstGeom>
          <a:solidFill>
            <a:srgbClr val="F0F7F6"/>
          </a:solidFill>
          <a:ln w="12700">
            <a:solidFill>
              <a:srgbClr val="D8EDE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13990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93392" y="123444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Report (.docx)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993392" y="158191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D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TicTacToe_Report_22101184.docx  —  submitted separately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097280" y="2377440"/>
            <a:ext cx="69494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6350">
            <a:solidFill>
              <a:srgbClr val="D8EDE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1261872" y="2578608"/>
            <a:ext cx="548640" cy="548640"/>
          </a:xfrm>
          <a:prstGeom prst="ellipse">
            <a:avLst/>
          </a:prstGeom>
          <a:solidFill>
            <a:srgbClr val="F0F7F6"/>
          </a:solidFill>
          <a:ln w="12700">
            <a:solidFill>
              <a:srgbClr val="D8EDE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5024" y="26334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93392" y="246888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993392" y="281635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D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github.com/lamiatabassumorpa/AI-lab 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1097280" y="3611880"/>
            <a:ext cx="69494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6350">
            <a:solidFill>
              <a:srgbClr val="D8EDE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261872" y="3813048"/>
            <a:ext cx="548640" cy="548640"/>
          </a:xfrm>
          <a:prstGeom prst="ellipse">
            <a:avLst/>
          </a:prstGeom>
          <a:solidFill>
            <a:srgbClr val="F0F7F6"/>
          </a:solidFill>
          <a:ln w="12700">
            <a:solidFill>
              <a:srgbClr val="D8EDE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5024" y="386791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93392" y="370332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993392" y="405079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D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tic_tac_toe.py  —  console-based Python 3, no dependencies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1341</Words>
  <Application>Microsoft Office PowerPoint</Application>
  <PresentationFormat>On-screen Show (16:9)</PresentationFormat>
  <Paragraphs>167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 Tac Toe – Minimax with Alpha-Beta Pruning</dc:title>
  <dc:subject>PptxGenJS Presentation</dc:subject>
  <dc:creator>Lamia Tabassum Orpa</dc:creator>
  <cp:lastModifiedBy>Lamia Tabassum</cp:lastModifiedBy>
  <cp:revision>2</cp:revision>
  <dcterms:created xsi:type="dcterms:W3CDTF">2026-06-28T09:09:04Z</dcterms:created>
  <dcterms:modified xsi:type="dcterms:W3CDTF">2026-06-28T09:34:58Z</dcterms:modified>
</cp:coreProperties>
</file>